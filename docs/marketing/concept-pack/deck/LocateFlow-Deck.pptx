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open with the headline and what LocateFlow is in one sentence. A personal address OS. Three beats: one address, every service, one place. Hold on the logo for a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wound. Everyone in the room has either said this sentence or knows someone who has. Don't sell yet. Just make the pain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Quantify it. Three numbers. Two-seventy-three a year on stuff people don't use. One in three movers keeps paying the old place. Thirty million households move annually. The market is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what your home actually looks like. Twelve providers, three addresses, one person trying to remember it all. Pause. Let people read the chips.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Tonal turn. Logo center. Three words. We do not over-explain. The product is the relief.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steps, that is the whole product. Add your address, live in one dashboard, when you move, it moves with you. Don't add a fourth step. Don't.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we win. Moving is the moment people sign up — when the pain is acute and the spend is large. State-specific rules for all 50 states is moat work, not feature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Market. 30 million movers a year. 74 billion dollar moving services market sitting downstream of us. 62 million US Hispanic adults — bilingual EN/ES from day one is not a checkbox, it's our wedge into a 1.6x more mobile audience. 8 dollars a month against 400+ in saves.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quote. We don't pile up testimonials. Maria moved four times in six years. She is the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light, not dark. The chaos is over. Stop paying for things you forgot about. Made with care for movers everywhere. CTA is free, no card. Walk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478000" y="-1905000"/>
            <a:ext cx="5715000" cy="5715000"/>
          </a:xfrm>
          <a:prstGeom prst="ellipse">
            <a:avLst/>
          </a:prstGeom>
          <a:solidFill>
            <a:srgbClr val="F9731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28750" y="6953250"/>
            <a:ext cx="4762500" cy="4762500"/>
          </a:xfrm>
          <a:prstGeom prst="ellipse">
            <a:avLst/>
          </a:prstGeom>
          <a:solidFill>
            <a:srgbClr val="FBBF24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525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3550" y="1058704"/>
            <a:ext cx="1208087" cy="282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LocateFlow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143000" y="2362200"/>
            <a:ext cx="16482060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63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MOVING COMPANION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43000" y="2752566"/>
            <a:ext cx="12956076" cy="3024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250" b="1" spc="-28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One address. </a:t>
            </a:r>
            <a:pPr algn="l" indent="0" marL="0">
              <a:lnSpc>
                <a:spcPct val="95000"/>
              </a:lnSpc>
              <a:buNone/>
            </a:pPr>
            <a:r>
              <a:rPr lang="en-US" sz="8250" b="1" spc="-289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service. </a:t>
            </a:r>
            <a:pPr algn="l" indent="0" marL="0">
              <a:lnSpc>
                <a:spcPct val="95000"/>
              </a:lnSpc>
              <a:buNone/>
            </a:pPr>
            <a:r>
              <a:rPr lang="en-US" sz="8250" b="1" spc="-28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One place.</a:t>
            </a:r>
            <a:endParaRPr lang="en-US" sz="8250" dirty="0"/>
          </a:p>
        </p:txBody>
      </p:sp>
      <p:sp>
        <p:nvSpPr>
          <p:cNvPr id="8" name="Text 5"/>
          <p:cNvSpPr/>
          <p:nvPr/>
        </p:nvSpPr>
        <p:spPr>
          <a:xfrm>
            <a:off x="1143000" y="6081554"/>
            <a:ext cx="397400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personal address OS — every utility, bank, insurance, subscription tied to your home, in one calm dashboard. When you move, it becomes a one-tap relocation checklist.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143000" y="9555956"/>
            <a:ext cx="2678335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INVESTOR DECK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6773525" y="9555956"/>
            <a:ext cx="447675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05000" y="-2857500"/>
            <a:ext cx="6667500" cy="6667500"/>
          </a:xfrm>
          <a:prstGeom prst="ellipse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478000" y="7429500"/>
            <a:ext cx="4762500" cy="4762500"/>
          </a:xfrm>
          <a:prstGeom prst="ellipse">
            <a:avLst/>
          </a:prstGeom>
          <a:solidFill>
            <a:srgbClr val="F9731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952500"/>
            <a:ext cx="16089630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63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33500" y="3230880"/>
            <a:ext cx="1608963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18000" b="1" dirty="0">
                <a:solidFill>
                  <a:srgbClr val="F97316">
                    <a:alpha val="6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1333500" y="3992880"/>
            <a:ext cx="7683780" cy="2720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I'm still paying for the gas at </a:t>
            </a:r>
            <a:pPr algn="l" indent="0" marL="0">
              <a:lnSpc>
                <a:spcPct val="110000"/>
              </a:lnSpc>
              <a:buNone/>
            </a:pPr>
            <a:r>
              <a:rPr lang="en-US" sz="4800" b="1" spc="-120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my old apartment. </a:t>
            </a:r>
            <a:pPr algn="l" indent="0" marL="0">
              <a:lnSpc>
                <a:spcPct val="110000"/>
              </a:lnSpc>
              <a:buNone/>
            </a:pPr>
            <a:r>
              <a:rPr lang="en-US" sz="4800" b="1" spc="-12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 moved out three months ago.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33500" y="7056120"/>
            <a:ext cx="16089630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58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EVERY MOVER, EVENTUALLY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43000" y="9555956"/>
            <a:ext cx="2678335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INVESTOR DECK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6494919" y="9555956"/>
            <a:ext cx="726281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63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COST OF FORGETTING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43000" y="1266666"/>
            <a:ext cx="7858411" cy="1464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5"/>
              </a:lnSpc>
              <a:buNone/>
            </a:pPr>
            <a:r>
              <a:rPr lang="en-US" sz="5400" b="1" spc="-16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It's not laziness. It's </a:t>
            </a:r>
            <a:pPr algn="l" indent="0" marL="0">
              <a:lnSpc>
                <a:spcPct val="104005"/>
              </a:lnSpc>
              <a:buNone/>
            </a:pPr>
            <a:r>
              <a:rPr lang="en-US" sz="5400" b="1" spc="-162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volume.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5189220"/>
            <a:ext cx="5130800" cy="2316004"/>
          </a:xfrm>
          <a:prstGeom prst="roundRect">
            <a:avLst>
              <a:gd name="adj" fmla="val 9870"/>
            </a:avLst>
          </a:prstGeom>
          <a:solidFill>
            <a:srgbClr val="12121A"/>
          </a:solidFill>
          <a:ln w="1063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8436" y="5542756"/>
            <a:ext cx="46349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252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$273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458436" y="6476206"/>
            <a:ext cx="4634925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Average household spend per year on subscriptions they don't use.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58436" y="7013416"/>
            <a:ext cx="4634925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C+R RESEARCH · 2024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6578600" y="5189220"/>
            <a:ext cx="5130800" cy="2316004"/>
          </a:xfrm>
          <a:prstGeom prst="roundRect">
            <a:avLst>
              <a:gd name="adj" fmla="val 9870"/>
            </a:avLst>
          </a:prstGeom>
          <a:solidFill>
            <a:srgbClr val="12121A"/>
          </a:solidFill>
          <a:ln w="1063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94036" y="5542756"/>
            <a:ext cx="46349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252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 in 3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6894036" y="6476206"/>
            <a:ext cx="4634925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Movers continue paying utility bills at their previous address.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94036" y="6792437"/>
            <a:ext cx="4634925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USPS NCOA · 2023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12014200" y="5189220"/>
            <a:ext cx="5130800" cy="2316004"/>
          </a:xfrm>
          <a:prstGeom prst="roundRect">
            <a:avLst>
              <a:gd name="adj" fmla="val 9870"/>
            </a:avLst>
          </a:prstGeom>
          <a:solidFill>
            <a:srgbClr val="12121A"/>
          </a:solidFill>
          <a:ln w="1063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29636" y="5542756"/>
            <a:ext cx="46349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252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30M+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12329636" y="6476206"/>
            <a:ext cx="4634925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 households move every year. Most do it three or more times.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29636" y="6792437"/>
            <a:ext cx="4634925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 CENSUS · 2024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143000" y="9555956"/>
            <a:ext cx="2678335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INVESTOR DECK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6494919" y="9555956"/>
            <a:ext cx="726281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86500" y="2286000"/>
            <a:ext cx="5715000" cy="57150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2500"/>
            <a:ext cx="16482060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63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YOUR HOME ACTUALLY HAS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07820" y="1546860"/>
            <a:ext cx="2177574" cy="468789"/>
          </a:xfrm>
          <a:prstGeom prst="roundRect">
            <a:avLst>
              <a:gd name="adj" fmla="val 50000"/>
            </a:avLst>
          </a:prstGeom>
          <a:solidFill>
            <a:srgbClr val="F43F5E">
              <a:alpha val="12000"/>
            </a:srgbClr>
          </a:solidFill>
          <a:ln w="10636">
            <a:solidFill>
              <a:srgbClr val="F43F5E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006" y="1690846"/>
            <a:ext cx="1813401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DA4A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PG&amp;E · $142.18 past due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78040" y="1249680"/>
            <a:ext cx="2050256" cy="468789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10636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98226" y="1393666"/>
            <a:ext cx="1686084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Verizon · auto-renewing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420600" y="1844040"/>
            <a:ext cx="1965325" cy="468789"/>
          </a:xfrm>
          <a:prstGeom prst="roundRect">
            <a:avLst>
              <a:gd name="adj" fmla="val 50000"/>
            </a:avLst>
          </a:prstGeom>
          <a:solidFill>
            <a:srgbClr val="F43F5E">
              <a:alpha val="12000"/>
            </a:srgbClr>
          </a:solidFill>
          <a:ln w="10636">
            <a:solidFill>
              <a:srgbClr val="F43F5E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40786" y="1988026"/>
            <a:ext cx="1601152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DA4A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Comcast · old address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63140" y="3329940"/>
            <a:ext cx="2439670" cy="468789"/>
          </a:xfrm>
          <a:prstGeom prst="roundRect">
            <a:avLst>
              <a:gd name="adj" fmla="val 50000"/>
            </a:avLst>
          </a:prstGeom>
          <a:solidFill>
            <a:srgbClr val="0EA5E9">
              <a:alpha val="12000"/>
            </a:srgbClr>
          </a:solidFill>
          <a:ln w="10636">
            <a:solidFill>
              <a:srgbClr val="0EA5E9">
                <a:alpha val="2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3326" y="3473926"/>
            <a:ext cx="2075497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USPS forwarding · 3 days left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0" y="3775710"/>
            <a:ext cx="2058829" cy="468789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10636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64186" y="3919696"/>
            <a:ext cx="1694656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Netflix · charged $19.99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058900" y="3627120"/>
            <a:ext cx="838518" cy="468789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0636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279086" y="3771106"/>
            <a:ext cx="474345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Geico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5410200"/>
            <a:ext cx="2372042" cy="468789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10636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6306" y="5554186"/>
            <a:ext cx="2007870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ClassPass · unused 47 days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88680" y="6153150"/>
            <a:ext cx="2089309" cy="468789"/>
          </a:xfrm>
          <a:prstGeom prst="roundRect">
            <a:avLst>
              <a:gd name="adj" fmla="val 50000"/>
            </a:avLst>
          </a:prstGeom>
          <a:solidFill>
            <a:srgbClr val="F43F5E">
              <a:alpha val="12000"/>
            </a:srgbClr>
          </a:solidFill>
          <a:ln w="10636">
            <a:solidFill>
              <a:srgbClr val="F43F5E">
                <a:alpha val="2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08866" y="6297136"/>
            <a:ext cx="1725136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DA4A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AT&amp;T · disconnect failed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748260" y="5707380"/>
            <a:ext cx="770573" cy="468789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0636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68447" y="5851366"/>
            <a:ext cx="406400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84420" y="7490460"/>
            <a:ext cx="2592229" cy="468789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10636">
            <a:solidFill>
              <a:srgbClr val="F59E0B">
                <a:alpha val="2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4606" y="7634447"/>
            <a:ext cx="2229623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Anytime Fitness · auto-renewed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782300" y="7639050"/>
            <a:ext cx="1146016" cy="468789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0636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02486" y="7783036"/>
            <a:ext cx="781844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City Water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29806" y="4766310"/>
            <a:ext cx="4628548" cy="1821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0" b="1" spc="-13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Twelve providers. Three addresses. </a:t>
            </a:r>
            <a:pPr algn="ctr" indent="0" marL="0">
              <a:lnSpc>
                <a:spcPct val="104000"/>
              </a:lnSpc>
              <a:buNone/>
            </a:pPr>
            <a:r>
              <a:rPr lang="en-US" sz="4500" b="1" spc="-135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One person.</a:t>
            </a:r>
            <a:endParaRPr lang="en-US" sz="4500" dirty="0"/>
          </a:p>
        </p:txBody>
      </p:sp>
      <p:sp>
        <p:nvSpPr>
          <p:cNvPr id="27" name="Text 25"/>
          <p:cNvSpPr/>
          <p:nvPr/>
        </p:nvSpPr>
        <p:spPr>
          <a:xfrm>
            <a:off x="1143000" y="9555956"/>
            <a:ext cx="2678335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INVESTOR DECK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6494919" y="9555956"/>
            <a:ext cx="726281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4381500" y="1409700"/>
            <a:ext cx="9525000" cy="952500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810250" y="3867150"/>
            <a:ext cx="6667500" cy="6667500"/>
          </a:xfrm>
          <a:prstGeom prst="ellipse">
            <a:avLst/>
          </a:prstGeom>
          <a:solidFill>
            <a:srgbClr val="FBBF24">
              <a:alpha val="14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1111250"/>
            <a:ext cx="762000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19085" y="2444750"/>
            <a:ext cx="2449830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263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 LOCATEFLOW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919085" y="2930366"/>
            <a:ext cx="244983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spc="-25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One address.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7919085" y="4759166"/>
            <a:ext cx="244983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spc="-252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service.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7919085" y="6587966"/>
            <a:ext cx="244983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spc="-25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One place.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1103995" y="9555956"/>
            <a:ext cx="2678335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146" kern="0" dirty="0">
                <a:solidFill>
                  <a:srgbClr val="FFFFFF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INVESTOR DECK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16456819" y="9555956"/>
            <a:ext cx="726281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146" kern="0" dirty="0">
                <a:solidFill>
                  <a:srgbClr val="FFFFFF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63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43000" y="1266666"/>
            <a:ext cx="7858411" cy="217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5"/>
              </a:lnSpc>
              <a:buNone/>
            </a:pPr>
            <a:r>
              <a:rPr lang="en-US" sz="5400" b="1" spc="-16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Three steps. That's the </a:t>
            </a:r>
            <a:pPr algn="l" indent="0" marL="0">
              <a:lnSpc>
                <a:spcPct val="104005"/>
              </a:lnSpc>
              <a:buNone/>
            </a:pPr>
            <a:r>
              <a:rPr lang="en-US" sz="5400" b="1" spc="-162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whole </a:t>
            </a:r>
            <a:pPr algn="l" indent="0" marL="0">
              <a:lnSpc>
                <a:spcPct val="104005"/>
              </a:lnSpc>
              <a:buNone/>
            </a:pPr>
            <a:r>
              <a:rPr lang="en-US" sz="5400" b="1" spc="-16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product.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977957"/>
            <a:ext cx="5194300" cy="1694180"/>
          </a:xfrm>
          <a:prstGeom prst="roundRect">
            <a:avLst>
              <a:gd name="adj" fmla="val 12369"/>
            </a:avLst>
          </a:prstGeom>
          <a:solidFill>
            <a:srgbClr val="12121A"/>
          </a:solidFill>
          <a:ln w="1063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9386" y="4274344"/>
            <a:ext cx="4739573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439386" y="4548188"/>
            <a:ext cx="4739573" cy="34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4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Add your address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39386" y="4932838"/>
            <a:ext cx="473957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 pull every provider tied to it — utilities, internet, insurance, subscriptions, HOA, gym. You confirm what's yours.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546850" y="3977957"/>
            <a:ext cx="5194300" cy="1694180"/>
          </a:xfrm>
          <a:prstGeom prst="roundRect">
            <a:avLst>
              <a:gd name="adj" fmla="val 12369"/>
            </a:avLst>
          </a:prstGeom>
          <a:solidFill>
            <a:srgbClr val="12121A"/>
          </a:solidFill>
          <a:ln w="1063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43236" y="4274344"/>
            <a:ext cx="4739573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843236" y="4548188"/>
            <a:ext cx="4739573" cy="34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4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Live in one dashboard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43236" y="4932838"/>
            <a:ext cx="473957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Renewal dates. Account numbers. What you pay. What you've forgotten. Smart reminders, document OCR, no spreadsheets.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11950700" y="3977957"/>
            <a:ext cx="5194300" cy="1694180"/>
          </a:xfrm>
          <a:prstGeom prst="roundRect">
            <a:avLst>
              <a:gd name="adj" fmla="val 12369"/>
            </a:avLst>
          </a:prstGeom>
          <a:solidFill>
            <a:srgbClr val="12121A"/>
          </a:solidFill>
          <a:ln w="1063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47086" y="4274344"/>
            <a:ext cx="4739573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2247086" y="4548188"/>
            <a:ext cx="4739573" cy="34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4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When you move, it moves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247086" y="4932838"/>
            <a:ext cx="473957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Type the new address. We turn your service list into a checklist: transfer, cancel, reconnect — one tap each, state-specific rules built in.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143000" y="9555956"/>
            <a:ext cx="2678335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INVESTOR DECK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6494919" y="9555956"/>
            <a:ext cx="726281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789555"/>
            <a:ext cx="7848600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63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MOVING MOMENT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43000" y="3103721"/>
            <a:ext cx="7848600" cy="1356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Moving is when it pays for </a:t>
            </a:r>
            <a:pPr algn="l" indent="0" marL="0">
              <a:buNone/>
            </a:pPr>
            <a:r>
              <a:rPr lang="en-US" sz="4500" b="1" i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itself.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4896962"/>
            <a:ext cx="3974008" cy="2638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It's why people sign up. The dashboard is the substrate; the moving checklist is the headline. State-specific rules for all 50 US states — what you can transfer, what you must cancel, what needs reconnecting before day one.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0" y="2065814"/>
            <a:ext cx="7620000" cy="6155373"/>
          </a:xfrm>
          <a:prstGeom prst="roundRect">
            <a:avLst>
              <a:gd name="adj" fmla="val 3714"/>
            </a:avLst>
          </a:prstGeom>
          <a:solidFill>
            <a:srgbClr val="12121A"/>
          </a:solidFill>
          <a:ln w="1063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40437" y="2381250"/>
            <a:ext cx="7198801" cy="17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24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432 OAK ST → 88 PINE LN · MOVING JUN 15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9840437" y="2614771"/>
            <a:ext cx="7198801" cy="304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3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11 tasks · 6 done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840437" y="3052128"/>
            <a:ext cx="6989127" cy="38100"/>
          </a:xfrm>
          <a:prstGeom prst="roundRect">
            <a:avLst>
              <a:gd name="adj" fmla="val 50000"/>
            </a:avLst>
          </a:prstGeom>
          <a:solidFill>
            <a:srgbClr val="1A1A25"/>
          </a:solidFill>
          <a:ln/>
        </p:spPr>
      </p:sp>
      <p:sp>
        <p:nvSpPr>
          <p:cNvPr id="9" name="Shape 7"/>
          <p:cNvSpPr/>
          <p:nvPr/>
        </p:nvSpPr>
        <p:spPr>
          <a:xfrm>
            <a:off x="9840437" y="3052128"/>
            <a:ext cx="4193381" cy="381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9840437" y="3318828"/>
            <a:ext cx="6989127" cy="556895"/>
          </a:xfrm>
          <a:prstGeom prst="roundRect">
            <a:avLst>
              <a:gd name="adj" fmla="val 23945"/>
            </a:avLst>
          </a:prstGeom>
          <a:solidFill>
            <a:srgbClr val="10B981">
              <a:alpha val="4000"/>
            </a:srgbClr>
          </a:solidFill>
          <a:ln w="10636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03473" y="3462814"/>
            <a:ext cx="268922" cy="268923"/>
          </a:xfrm>
          <a:prstGeom prst="roundRect">
            <a:avLst>
              <a:gd name="adj" fmla="val 28335"/>
            </a:avLst>
          </a:prstGeom>
          <a:solidFill>
            <a:srgbClr val="10B981"/>
          </a:solidFill>
          <a:ln w="10636">
            <a:solidFill>
              <a:srgbClr val="10B981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1259" y="3530600"/>
            <a:ext cx="133350" cy="1333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405745" y="3512185"/>
            <a:ext cx="5462299" cy="20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trike="sngStrike" dirty="0">
                <a:solidFill>
                  <a:srgbClr val="FFFFFF">
                    <a:alpha val="4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PG&amp;E</a:t>
            </a:r>
            <a:endParaRPr lang="en-US" sz="1125" dirty="0"/>
          </a:p>
        </p:txBody>
      </p:sp>
      <p:sp>
        <p:nvSpPr>
          <p:cNvPr id="14" name="Shape 11"/>
          <p:cNvSpPr/>
          <p:nvPr/>
        </p:nvSpPr>
        <p:spPr>
          <a:xfrm>
            <a:off x="15842298" y="3484721"/>
            <a:ext cx="824230" cy="225107"/>
          </a:xfrm>
          <a:prstGeom prst="roundRect">
            <a:avLst>
              <a:gd name="adj" fmla="val 50000"/>
            </a:avLst>
          </a:prstGeom>
          <a:solidFill>
            <a:srgbClr val="F97316">
              <a:alpha val="12000"/>
            </a:srgbClr>
          </a:solidFill>
          <a:ln w="10636">
            <a:solidFill>
              <a:srgbClr val="F97316">
                <a:alpha val="2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948184" y="3533458"/>
            <a:ext cx="688657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FB92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TRANSFER</a:t>
            </a:r>
            <a:endParaRPr lang="en-US" sz="825" dirty="0"/>
          </a:p>
        </p:txBody>
      </p:sp>
      <p:sp>
        <p:nvSpPr>
          <p:cNvPr id="16" name="Shape 13"/>
          <p:cNvSpPr/>
          <p:nvPr/>
        </p:nvSpPr>
        <p:spPr>
          <a:xfrm>
            <a:off x="9840437" y="3951922"/>
            <a:ext cx="6989127" cy="556895"/>
          </a:xfrm>
          <a:prstGeom prst="roundRect">
            <a:avLst>
              <a:gd name="adj" fmla="val 23945"/>
            </a:avLst>
          </a:prstGeom>
          <a:solidFill>
            <a:srgbClr val="10B981">
              <a:alpha val="4000"/>
            </a:srgbClr>
          </a:solidFill>
          <a:ln w="10636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03473" y="4095909"/>
            <a:ext cx="268922" cy="268923"/>
          </a:xfrm>
          <a:prstGeom prst="roundRect">
            <a:avLst>
              <a:gd name="adj" fmla="val 28335"/>
            </a:avLst>
          </a:prstGeom>
          <a:solidFill>
            <a:srgbClr val="10B981"/>
          </a:solidFill>
          <a:ln w="10636">
            <a:solidFill>
              <a:srgbClr val="10B981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259" y="4163695"/>
            <a:ext cx="133350" cy="1333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405745" y="4145280"/>
            <a:ext cx="5610932" cy="20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trike="sngStrike" dirty="0">
                <a:solidFill>
                  <a:srgbClr val="FFFFFF">
                    <a:alpha val="4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Comcast</a:t>
            </a:r>
            <a:endParaRPr lang="en-US" sz="1125" dirty="0"/>
          </a:p>
        </p:txBody>
      </p:sp>
      <p:sp>
        <p:nvSpPr>
          <p:cNvPr id="20" name="Shape 16"/>
          <p:cNvSpPr/>
          <p:nvPr/>
        </p:nvSpPr>
        <p:spPr>
          <a:xfrm>
            <a:off x="15986601" y="4117816"/>
            <a:ext cx="679926" cy="225107"/>
          </a:xfrm>
          <a:prstGeom prst="roundRect">
            <a:avLst>
              <a:gd name="adj" fmla="val 50000"/>
            </a:avLst>
          </a:prstGeom>
          <a:solidFill>
            <a:srgbClr val="F43F5E">
              <a:alpha val="12000"/>
            </a:srgbClr>
          </a:solidFill>
          <a:ln w="10636">
            <a:solidFill>
              <a:srgbClr val="F43F5E">
                <a:alpha val="25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6092487" y="4166552"/>
            <a:ext cx="544354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FDA4A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CANCEL</a:t>
            </a:r>
            <a:endParaRPr lang="en-US" sz="825" dirty="0"/>
          </a:p>
        </p:txBody>
      </p:sp>
      <p:sp>
        <p:nvSpPr>
          <p:cNvPr id="22" name="Shape 18"/>
          <p:cNvSpPr/>
          <p:nvPr/>
        </p:nvSpPr>
        <p:spPr>
          <a:xfrm>
            <a:off x="9840437" y="4585018"/>
            <a:ext cx="6989127" cy="556895"/>
          </a:xfrm>
          <a:prstGeom prst="roundRect">
            <a:avLst>
              <a:gd name="adj" fmla="val 23945"/>
            </a:avLst>
          </a:prstGeom>
          <a:solidFill>
            <a:srgbClr val="10B981">
              <a:alpha val="4000"/>
            </a:srgbClr>
          </a:solidFill>
          <a:ln w="10636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003473" y="4729004"/>
            <a:ext cx="268922" cy="268922"/>
          </a:xfrm>
          <a:prstGeom prst="roundRect">
            <a:avLst>
              <a:gd name="adj" fmla="val 28335"/>
            </a:avLst>
          </a:prstGeom>
          <a:solidFill>
            <a:srgbClr val="10B981"/>
          </a:solidFill>
          <a:ln w="10636">
            <a:solidFill>
              <a:srgbClr val="10B98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1259" y="4796790"/>
            <a:ext cx="133350" cy="1333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405745" y="4778375"/>
            <a:ext cx="5624993" cy="20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trike="sngStrike" dirty="0">
                <a:solidFill>
                  <a:srgbClr val="FFFFFF">
                    <a:alpha val="4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Geico</a:t>
            </a:r>
            <a:endParaRPr lang="en-US" sz="1125" dirty="0"/>
          </a:p>
        </p:txBody>
      </p:sp>
      <p:sp>
        <p:nvSpPr>
          <p:cNvPr id="26" name="Shape 21"/>
          <p:cNvSpPr/>
          <p:nvPr/>
        </p:nvSpPr>
        <p:spPr>
          <a:xfrm>
            <a:off x="16000254" y="4750911"/>
            <a:ext cx="666274" cy="225107"/>
          </a:xfrm>
          <a:prstGeom prst="roundRect">
            <a:avLst>
              <a:gd name="adj" fmla="val 50000"/>
            </a:avLst>
          </a:prstGeom>
          <a:solidFill>
            <a:srgbClr val="0EA5E9">
              <a:alpha val="12000"/>
            </a:srgbClr>
          </a:solidFill>
          <a:ln w="10636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6106140" y="4799647"/>
            <a:ext cx="530701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DD3F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UPDATE</a:t>
            </a:r>
            <a:endParaRPr lang="en-US" sz="825" dirty="0"/>
          </a:p>
        </p:txBody>
      </p:sp>
      <p:sp>
        <p:nvSpPr>
          <p:cNvPr id="28" name="Shape 23"/>
          <p:cNvSpPr/>
          <p:nvPr/>
        </p:nvSpPr>
        <p:spPr>
          <a:xfrm>
            <a:off x="9840437" y="5218112"/>
            <a:ext cx="6989127" cy="556895"/>
          </a:xfrm>
          <a:prstGeom prst="roundRect">
            <a:avLst>
              <a:gd name="adj" fmla="val 23945"/>
            </a:avLst>
          </a:prstGeom>
          <a:solidFill>
            <a:srgbClr val="1A1A25"/>
          </a:solidFill>
          <a:ln w="1063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003473" y="5362099"/>
            <a:ext cx="268922" cy="268923"/>
          </a:xfrm>
          <a:prstGeom prst="roundRect">
            <a:avLst>
              <a:gd name="adj" fmla="val 28335"/>
            </a:avLst>
          </a:prstGeom>
          <a:ln w="10636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0405745" y="5411470"/>
            <a:ext cx="5462299" cy="20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AT&amp;T Fiber</a:t>
            </a:r>
            <a:endParaRPr lang="en-US" sz="1125" dirty="0"/>
          </a:p>
        </p:txBody>
      </p:sp>
      <p:sp>
        <p:nvSpPr>
          <p:cNvPr id="31" name="Shape 26"/>
          <p:cNvSpPr/>
          <p:nvPr/>
        </p:nvSpPr>
        <p:spPr>
          <a:xfrm>
            <a:off x="15842298" y="5384006"/>
            <a:ext cx="824230" cy="225107"/>
          </a:xfrm>
          <a:prstGeom prst="roundRect">
            <a:avLst>
              <a:gd name="adj" fmla="val 50000"/>
            </a:avLst>
          </a:prstGeom>
          <a:solidFill>
            <a:srgbClr val="F97316">
              <a:alpha val="12000"/>
            </a:srgbClr>
          </a:solidFill>
          <a:ln w="10636">
            <a:solidFill>
              <a:srgbClr val="F97316">
                <a:alpha val="25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15948184" y="5432743"/>
            <a:ext cx="688657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FB92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TRANSFER</a:t>
            </a:r>
            <a:endParaRPr lang="en-US" sz="825" dirty="0"/>
          </a:p>
        </p:txBody>
      </p:sp>
      <p:sp>
        <p:nvSpPr>
          <p:cNvPr id="33" name="Shape 28"/>
          <p:cNvSpPr/>
          <p:nvPr/>
        </p:nvSpPr>
        <p:spPr>
          <a:xfrm>
            <a:off x="9840437" y="5851207"/>
            <a:ext cx="6989127" cy="556895"/>
          </a:xfrm>
          <a:prstGeom prst="roundRect">
            <a:avLst>
              <a:gd name="adj" fmla="val 23945"/>
            </a:avLst>
          </a:prstGeom>
          <a:solidFill>
            <a:srgbClr val="1A1A25"/>
          </a:solidFill>
          <a:ln w="1063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0003473" y="5995194"/>
            <a:ext cx="268922" cy="268922"/>
          </a:xfrm>
          <a:prstGeom prst="roundRect">
            <a:avLst>
              <a:gd name="adj" fmla="val 28335"/>
            </a:avLst>
          </a:prstGeom>
          <a:ln w="10636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405745" y="6044565"/>
            <a:ext cx="5624993" cy="20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Netflix</a:t>
            </a:r>
            <a:endParaRPr lang="en-US" sz="1125" dirty="0"/>
          </a:p>
        </p:txBody>
      </p:sp>
      <p:sp>
        <p:nvSpPr>
          <p:cNvPr id="36" name="Shape 31"/>
          <p:cNvSpPr/>
          <p:nvPr/>
        </p:nvSpPr>
        <p:spPr>
          <a:xfrm>
            <a:off x="16000254" y="6017101"/>
            <a:ext cx="666274" cy="225108"/>
          </a:xfrm>
          <a:prstGeom prst="roundRect">
            <a:avLst>
              <a:gd name="adj" fmla="val 50000"/>
            </a:avLst>
          </a:prstGeom>
          <a:solidFill>
            <a:srgbClr val="0EA5E9">
              <a:alpha val="12000"/>
            </a:srgbClr>
          </a:solidFill>
          <a:ln w="10636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6106140" y="6065838"/>
            <a:ext cx="530701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7DD3F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UPDATE</a:t>
            </a:r>
            <a:endParaRPr lang="en-US" sz="825" dirty="0"/>
          </a:p>
        </p:txBody>
      </p:sp>
      <p:sp>
        <p:nvSpPr>
          <p:cNvPr id="38" name="Shape 33"/>
          <p:cNvSpPr/>
          <p:nvPr/>
        </p:nvSpPr>
        <p:spPr>
          <a:xfrm>
            <a:off x="9840437" y="6484302"/>
            <a:ext cx="6989127" cy="556895"/>
          </a:xfrm>
          <a:prstGeom prst="roundRect">
            <a:avLst>
              <a:gd name="adj" fmla="val 23945"/>
            </a:avLst>
          </a:prstGeom>
          <a:solidFill>
            <a:srgbClr val="1A1A25"/>
          </a:solidFill>
          <a:ln w="1063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0003473" y="6628288"/>
            <a:ext cx="268922" cy="268923"/>
          </a:xfrm>
          <a:prstGeom prst="roundRect">
            <a:avLst>
              <a:gd name="adj" fmla="val 28335"/>
            </a:avLst>
          </a:prstGeom>
          <a:ln w="10636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10405745" y="6677660"/>
            <a:ext cx="5462299" cy="20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USPS Forwarding</a:t>
            </a:r>
            <a:endParaRPr lang="en-US" sz="1125" dirty="0"/>
          </a:p>
        </p:txBody>
      </p:sp>
      <p:sp>
        <p:nvSpPr>
          <p:cNvPr id="41" name="Shape 36"/>
          <p:cNvSpPr/>
          <p:nvPr/>
        </p:nvSpPr>
        <p:spPr>
          <a:xfrm>
            <a:off x="15842298" y="6650196"/>
            <a:ext cx="824230" cy="225107"/>
          </a:xfrm>
          <a:prstGeom prst="roundRect">
            <a:avLst>
              <a:gd name="adj" fmla="val 50000"/>
            </a:avLst>
          </a:prstGeom>
          <a:solidFill>
            <a:srgbClr val="F97316">
              <a:alpha val="12000"/>
            </a:srgbClr>
          </a:solidFill>
          <a:ln w="10636">
            <a:solidFill>
              <a:srgbClr val="F97316">
                <a:alpha val="25000"/>
              </a:srgbClr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15948184" y="6698933"/>
            <a:ext cx="688657" cy="16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41" kern="0" dirty="0">
                <a:solidFill>
                  <a:srgbClr val="FB92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TRANSFER</a:t>
            </a:r>
            <a:endParaRPr lang="en-US" sz="825" dirty="0"/>
          </a:p>
        </p:txBody>
      </p:sp>
      <p:sp>
        <p:nvSpPr>
          <p:cNvPr id="43" name="Text 38"/>
          <p:cNvSpPr/>
          <p:nvPr/>
        </p:nvSpPr>
        <p:spPr>
          <a:xfrm>
            <a:off x="1143000" y="9555956"/>
            <a:ext cx="2678335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INVESTOR DECK</a:t>
            </a:r>
            <a:endParaRPr lang="en-US" sz="975" dirty="0"/>
          </a:p>
        </p:txBody>
      </p:sp>
      <p:sp>
        <p:nvSpPr>
          <p:cNvPr id="44" name="Text 39"/>
          <p:cNvSpPr/>
          <p:nvPr/>
        </p:nvSpPr>
        <p:spPr>
          <a:xfrm>
            <a:off x="16494919" y="9555956"/>
            <a:ext cx="726281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63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WHO IS THIS FOR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43000" y="1438116"/>
            <a:ext cx="4584890" cy="2918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adult who has ever moved </a:t>
            </a:r>
            <a:pPr algn="l" indent="0" marL="0">
              <a:lnSpc>
                <a:spcPct val="120000"/>
              </a:lnSpc>
              <a:buNone/>
            </a:pPr>
            <a:r>
              <a:rPr lang="en-US" sz="3150" b="1" spc="-63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and forgotten something. </a:t>
            </a:r>
            <a:pPr algn="l" indent="0" marL="0">
              <a:lnSpc>
                <a:spcPct val="12000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market is large because the problem is universal.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1143000" y="4889976"/>
            <a:ext cx="7886700" cy="1495266"/>
          </a:xfrm>
          <a:prstGeom prst="roundRect">
            <a:avLst>
              <a:gd name="adj" fmla="val 12740"/>
            </a:avLst>
          </a:prstGeom>
          <a:solidFill>
            <a:srgbClr val="12121A"/>
          </a:solidFill>
          <a:ln w="1063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8436" y="5205413"/>
            <a:ext cx="747350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144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30M+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458436" y="5910263"/>
            <a:ext cx="7473502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 households moving every year. ~10% of the population, every year.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258300" y="4889976"/>
            <a:ext cx="7886700" cy="1495266"/>
          </a:xfrm>
          <a:prstGeom prst="roundRect">
            <a:avLst>
              <a:gd name="adj" fmla="val 12740"/>
            </a:avLst>
          </a:prstGeom>
          <a:solidFill>
            <a:srgbClr val="12121A"/>
          </a:solidFill>
          <a:ln w="1063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73737" y="5205413"/>
            <a:ext cx="747350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144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$74B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573737" y="5910263"/>
            <a:ext cx="7473502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Annual US "moving services" market — broker, truck, storage, supplies. We sit upstream of all of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43000" y="6613843"/>
            <a:ext cx="7886700" cy="1495266"/>
          </a:xfrm>
          <a:prstGeom prst="roundRect">
            <a:avLst>
              <a:gd name="adj" fmla="val 12740"/>
            </a:avLst>
          </a:prstGeom>
          <a:solidFill>
            <a:srgbClr val="12121A"/>
          </a:solidFill>
          <a:ln w="1063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8436" y="6929279"/>
            <a:ext cx="747350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144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62M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458436" y="7634129"/>
            <a:ext cx="7473502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 Hispanic adults — 1.6× more likely to relocate. We ship bilingual EN/ES from day one.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258300" y="6613843"/>
            <a:ext cx="7886700" cy="1495266"/>
          </a:xfrm>
          <a:prstGeom prst="roundRect">
            <a:avLst>
              <a:gd name="adj" fmla="val 12740"/>
            </a:avLst>
          </a:prstGeom>
          <a:solidFill>
            <a:srgbClr val="12121A"/>
          </a:solidFill>
          <a:ln w="10636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3737" y="6929279"/>
            <a:ext cx="747350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144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$8/mo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573737" y="7634129"/>
            <a:ext cx="7473502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Pricing. The product saves the average household $400+ in year one. The math sells itself.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43000" y="9555956"/>
            <a:ext cx="2678335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INVESTOR DECK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6494919" y="9555956"/>
            <a:ext cx="726281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86500" y="2286000"/>
            <a:ext cx="5715000" cy="5715000"/>
          </a:xfrm>
          <a:prstGeom prst="ellipse">
            <a:avLst/>
          </a:prstGeom>
          <a:solidFill>
            <a:srgbClr val="FBBF24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482489" y="952500"/>
            <a:ext cx="1323022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263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A USER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76742" y="3961130"/>
            <a:ext cx="7334516" cy="19264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06"/>
              </a:lnSpc>
              <a:buNone/>
            </a:pPr>
            <a:r>
              <a:rPr lang="en-US" sz="4200" b="1" spc="-8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 feels like I finally </a:t>
            </a:r>
            <a:pPr algn="ctr" indent="0" marL="0">
              <a:lnSpc>
                <a:spcPct val="118006"/>
              </a:lnSpc>
              <a:buNone/>
            </a:pPr>
            <a:r>
              <a:rPr lang="en-US" sz="4200" b="1" spc="-84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cleaned out a closet </a:t>
            </a:r>
            <a:pPr algn="ctr" indent="0" marL="0">
              <a:lnSpc>
                <a:spcPct val="118006"/>
              </a:lnSpc>
              <a:buNone/>
            </a:pPr>
            <a:r>
              <a:rPr lang="en-US" sz="4200" b="1" spc="-8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 didn't know I had.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76742" y="6325712"/>
            <a:ext cx="7334516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89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MARIA L · MOVED 4 TIMES IN 6 YEARS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3995" y="9555956"/>
            <a:ext cx="2678335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 · INVESTOR DECK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6456819" y="9555956"/>
            <a:ext cx="726281" cy="197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146" kern="0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1500" y="7581900"/>
            <a:ext cx="9525000" cy="9525000"/>
          </a:xfrm>
          <a:prstGeom prst="ellipse">
            <a:avLst/>
          </a:prstGeom>
          <a:solidFill>
            <a:srgbClr val="F9731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-952500"/>
            <a:ext cx="5715000" cy="5715000"/>
          </a:xfrm>
          <a:prstGeom prst="ellipse">
            <a:avLst/>
          </a:prstGeom>
          <a:solidFill>
            <a:srgbClr val="FBBF2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863693" y="2594769"/>
            <a:ext cx="10560454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263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NEW GENERATION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63693" y="2985135"/>
            <a:ext cx="10560454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spc="-252" kern="0" dirty="0">
                <a:solidFill>
                  <a:srgbClr val="0A0A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Stop paying for things </a:t>
            </a:r>
            <a:pPr algn="ctr" indent="0" marL="0">
              <a:lnSpc>
                <a:spcPct val="100000"/>
              </a:lnSpc>
              <a:buNone/>
            </a:pPr>
            <a:r>
              <a:rPr lang="en-US" sz="7200" b="1" spc="-252" kern="0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you forgot about.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048265" y="5118735"/>
            <a:ext cx="4191153" cy="835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Made with care for movers everywhere — and for the next 30 million who haven't moved yet.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85513" y="6602254"/>
            <a:ext cx="3716814" cy="642461"/>
          </a:xfrm>
          <a:prstGeom prst="roundRect">
            <a:avLst>
              <a:gd name="adj" fmla="val 23721"/>
            </a:avLst>
          </a:prstGeom>
          <a:solidFill>
            <a:srgbClr val="F97316"/>
          </a:solidFill>
          <a:ln/>
          <a:effectLst>
            <a:outerShdw sx="100000" sy="100000" kx="0" ky="0" algn="bl" rotWithShape="0" blurRad="571500" dist="228600" dir="5400000">
              <a:srgbClr val="F9731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48861" y="6811804"/>
            <a:ext cx="2990118" cy="261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Start free — no card required 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63693" y="7511415"/>
            <a:ext cx="10560454" cy="218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58" kern="0" dirty="0">
                <a:solidFill>
                  <a:srgbClr val="0F172A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DAY FREE TRIAL · CANCEL ANYTIME · GDPR / CCPA COMPLIANT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2026-04-27T15:19:21Z</dcterms:created>
  <dcterms:modified xsi:type="dcterms:W3CDTF">2026-04-27T15:19:21Z</dcterms:modified>
</cp:coreProperties>
</file>